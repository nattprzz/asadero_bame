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Playfair Display"/>
      <p:regular r:id="rId24"/>
      <p:bold r:id="rId25"/>
      <p:italic r:id="rId26"/>
      <p:boldItalic r:id="rId27"/>
    </p:embeddedFont>
    <p:embeddedFont>
      <p:font typeface="Urbanist SemiBold"/>
      <p:regular r:id="rId28"/>
      <p:bold r:id="rId29"/>
      <p:italic r:id="rId30"/>
      <p:boldItalic r:id="rId31"/>
    </p:embeddedFont>
    <p:embeddedFont>
      <p:font typeface="Urbanis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fairDispl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UrbanistSemiBold-regular.fntdata"/><Relationship Id="rId27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SemiBold-boldItalic.fntdata"/><Relationship Id="rId30" Type="http://schemas.openxmlformats.org/officeDocument/2006/relationships/font" Target="fonts/UrbanistSemiBold-italic.fntdata"/><Relationship Id="rId11" Type="http://schemas.openxmlformats.org/officeDocument/2006/relationships/slide" Target="slides/slide6.xml"/><Relationship Id="rId33" Type="http://schemas.openxmlformats.org/officeDocument/2006/relationships/font" Target="fonts/Urbanist-bold.fntdata"/><Relationship Id="rId10" Type="http://schemas.openxmlformats.org/officeDocument/2006/relationships/slide" Target="slides/slide5.xml"/><Relationship Id="rId32" Type="http://schemas.openxmlformats.org/officeDocument/2006/relationships/font" Target="fonts/Urbanist-regular.fntdata"/><Relationship Id="rId13" Type="http://schemas.openxmlformats.org/officeDocument/2006/relationships/slide" Target="slides/slide8.xml"/><Relationship Id="rId35" Type="http://schemas.openxmlformats.org/officeDocument/2006/relationships/font" Target="fonts/Urbanist-boldItalic.fntdata"/><Relationship Id="rId12" Type="http://schemas.openxmlformats.org/officeDocument/2006/relationships/slide" Target="slides/slide7.xml"/><Relationship Id="rId34" Type="http://schemas.openxmlformats.org/officeDocument/2006/relationships/font" Target="fonts/Urbanist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11" Type="http://schemas.openxmlformats.org/officeDocument/2006/relationships/image" Target="../media/image16.png"/><Relationship Id="rId10" Type="http://schemas.openxmlformats.org/officeDocument/2006/relationships/image" Target="../media/image5.png"/><Relationship Id="rId9" Type="http://schemas.openxmlformats.org/officeDocument/2006/relationships/image" Target="../media/image28.png"/><Relationship Id="rId5" Type="http://schemas.openxmlformats.org/officeDocument/2006/relationships/image" Target="../media/image6.png"/><Relationship Id="rId6" Type="http://schemas.openxmlformats.org/officeDocument/2006/relationships/image" Target="../media/image24.png"/><Relationship Id="rId7" Type="http://schemas.openxmlformats.org/officeDocument/2006/relationships/image" Target="../media/image10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10" Type="http://schemas.openxmlformats.org/officeDocument/2006/relationships/image" Target="../media/image25.png"/><Relationship Id="rId9" Type="http://schemas.openxmlformats.org/officeDocument/2006/relationships/image" Target="../media/image18.png"/><Relationship Id="rId5" Type="http://schemas.openxmlformats.org/officeDocument/2006/relationships/image" Target="../media/image31.png"/><Relationship Id="rId6" Type="http://schemas.openxmlformats.org/officeDocument/2006/relationships/image" Target="../media/image13.png"/><Relationship Id="rId7" Type="http://schemas.openxmlformats.org/officeDocument/2006/relationships/image" Target="../media/image41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10" Type="http://schemas.openxmlformats.org/officeDocument/2006/relationships/image" Target="../media/image76.png"/><Relationship Id="rId9" Type="http://schemas.openxmlformats.org/officeDocument/2006/relationships/image" Target="../media/image53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7.png"/><Relationship Id="rId10" Type="http://schemas.openxmlformats.org/officeDocument/2006/relationships/image" Target="../media/image35.png"/><Relationship Id="rId9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image" Target="../media/image34.png"/><Relationship Id="rId7" Type="http://schemas.openxmlformats.org/officeDocument/2006/relationships/image" Target="../media/image57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11" Type="http://schemas.openxmlformats.org/officeDocument/2006/relationships/image" Target="../media/image68.png"/><Relationship Id="rId10" Type="http://schemas.openxmlformats.org/officeDocument/2006/relationships/image" Target="../media/image46.png"/><Relationship Id="rId9" Type="http://schemas.openxmlformats.org/officeDocument/2006/relationships/image" Target="../media/image53.png"/><Relationship Id="rId5" Type="http://schemas.openxmlformats.org/officeDocument/2006/relationships/image" Target="../media/image13.png"/><Relationship Id="rId6" Type="http://schemas.openxmlformats.org/officeDocument/2006/relationships/image" Target="../media/image30.png"/><Relationship Id="rId7" Type="http://schemas.openxmlformats.org/officeDocument/2006/relationships/image" Target="../media/image43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10" Type="http://schemas.openxmlformats.org/officeDocument/2006/relationships/image" Target="../media/image66.png"/><Relationship Id="rId9" Type="http://schemas.openxmlformats.org/officeDocument/2006/relationships/image" Target="../media/image42.png"/><Relationship Id="rId5" Type="http://schemas.openxmlformats.org/officeDocument/2006/relationships/image" Target="../media/image31.png"/><Relationship Id="rId6" Type="http://schemas.openxmlformats.org/officeDocument/2006/relationships/image" Target="../media/image41.png"/><Relationship Id="rId7" Type="http://schemas.openxmlformats.org/officeDocument/2006/relationships/image" Target="../media/image11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60.png"/><Relationship Id="rId7" Type="http://schemas.openxmlformats.org/officeDocument/2006/relationships/image" Target="../media/image59.png"/><Relationship Id="rId8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0.png"/><Relationship Id="rId9" Type="http://schemas.openxmlformats.org/officeDocument/2006/relationships/image" Target="../media/image56.png"/><Relationship Id="rId5" Type="http://schemas.openxmlformats.org/officeDocument/2006/relationships/image" Target="../media/image71.png"/><Relationship Id="rId6" Type="http://schemas.openxmlformats.org/officeDocument/2006/relationships/image" Target="../media/image45.png"/><Relationship Id="rId7" Type="http://schemas.openxmlformats.org/officeDocument/2006/relationships/image" Target="../media/image34.png"/><Relationship Id="rId8" Type="http://schemas.openxmlformats.org/officeDocument/2006/relationships/image" Target="../media/image6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47.png"/><Relationship Id="rId6" Type="http://schemas.openxmlformats.org/officeDocument/2006/relationships/image" Target="../media/image52.png"/><Relationship Id="rId7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5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1.png"/><Relationship Id="rId5" Type="http://schemas.openxmlformats.org/officeDocument/2006/relationships/image" Target="../media/image67.png"/><Relationship Id="rId6" Type="http://schemas.openxmlformats.org/officeDocument/2006/relationships/image" Target="../media/image58.png"/><Relationship Id="rId7" Type="http://schemas.openxmlformats.org/officeDocument/2006/relationships/image" Target="../media/image74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75.png"/><Relationship Id="rId13" Type="http://schemas.openxmlformats.org/officeDocument/2006/relationships/hyperlink" Target="https://asaderobame.com/admin/local/4/disponibilidad" TargetMode="External"/><Relationship Id="rId12" Type="http://schemas.openxmlformats.org/officeDocument/2006/relationships/hyperlink" Target="https://asaderobame.com/home/carta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73.png"/><Relationship Id="rId9" Type="http://schemas.openxmlformats.org/officeDocument/2006/relationships/image" Target="../media/image62.png"/><Relationship Id="rId5" Type="http://schemas.openxmlformats.org/officeDocument/2006/relationships/image" Target="../media/image65.png"/><Relationship Id="rId6" Type="http://schemas.openxmlformats.org/officeDocument/2006/relationships/image" Target="../media/image61.png"/><Relationship Id="rId7" Type="http://schemas.openxmlformats.org/officeDocument/2006/relationships/image" Target="../media/image64.png"/><Relationship Id="rId8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619750" y="3978622"/>
            <a:ext cx="9525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808857"/>
            <a:ext cx="116014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PROYECTO TFG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142232"/>
            <a:ext cx="1160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170932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Plataforma web para la gestión integral de restaurantes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37867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Desarrollo de Aplicaciones Web (DAW)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474434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Curso 2025-2026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916650" y="5125350"/>
            <a:ext cx="4358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Natalia Pérez García</a:t>
            </a:r>
            <a:endParaRPr/>
          </a:p>
        </p:txBody>
      </p:sp>
      <p:pic>
        <p:nvPicPr>
          <p:cNvPr id="92" name="Google Shape;92;p13" title="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9788" y="2091863"/>
            <a:ext cx="2232575" cy="10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8762"/>
            <a:ext cx="53816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528762"/>
            <a:ext cx="53816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86062"/>
            <a:ext cx="53816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786062"/>
            <a:ext cx="53816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43362"/>
            <a:ext cx="53816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043362"/>
            <a:ext cx="53816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300662"/>
            <a:ext cx="53816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5300662"/>
            <a:ext cx="5381625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66775" y="1776400"/>
            <a:ext cx="639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01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590675" y="1876425"/>
            <a:ext cx="32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Introducción y Objetivos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34150" y="1725925"/>
            <a:ext cx="57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02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324725" y="1876425"/>
            <a:ext cx="24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de Requisitos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66775" y="2983225"/>
            <a:ext cx="57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03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638300" y="3133725"/>
            <a:ext cx="363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Arquitectura y Base de Datos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534150" y="2983225"/>
            <a:ext cx="639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04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324725" y="3133725"/>
            <a:ext cx="363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Desarrollo (Frontend y Backend)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32575" y="4240525"/>
            <a:ext cx="639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05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628775" y="4391025"/>
            <a:ext cx="377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Experiencia del Cliente y Admin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514200" y="4240525"/>
            <a:ext cx="679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06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343775" y="4391025"/>
            <a:ext cx="24479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Seguridad y Despliegue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90602" y="5497825"/>
            <a:ext cx="639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07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628775" y="5648325"/>
            <a:ext cx="404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Resultados, Dificultades y Conclusiones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534150" y="5548300"/>
            <a:ext cx="639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08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343775" y="5648325"/>
            <a:ext cx="256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Demostración Visual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ÍNDICE DE LA PRESENTACIÓN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52387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90787"/>
            <a:ext cx="523875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INTRODUCCIÓN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962025" y="2881312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El Problema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62025" y="3395662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La empresa gestionaba las reservas y los pedidos mediante métodos tradicionales, lo que podía provocar errores manuales, una menor eficiencia operativa y dificultades para organizar y controlar los procesos del restaurante.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772275" y="2881312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La Solución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772275" y="3395662"/>
            <a:ext cx="4457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BAME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, una plataforma web que automatiza la gestión de reservas y pedidos, centraliza la información del negocio y mejora la eficiencia operativa, reduciendo errores y optimizando la organización interna del local.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1428"/>
            <a:ext cx="3524250" cy="1879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1901428"/>
            <a:ext cx="3524250" cy="1879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1901428"/>
            <a:ext cx="3524250" cy="1879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19550"/>
            <a:ext cx="3524250" cy="1879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4019550"/>
            <a:ext cx="3524250" cy="1879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4019550"/>
            <a:ext cx="3524250" cy="1879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2168128"/>
            <a:ext cx="2952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0" y="2168128"/>
            <a:ext cx="2952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34375" y="2168128"/>
            <a:ext cx="4191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286250"/>
            <a:ext cx="4191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72000" y="4286250"/>
            <a:ext cx="4191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34375" y="4286250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OBJETIVOS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809625" y="2682478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Pedidos Online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09625" y="3034903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Realización y gestión de pedidos de forma digital.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4572000" y="2682478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Reservas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4572000" y="3034903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Sistema de reservas con control de disponibilidad.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334375" y="2682478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Usuarios y Roles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334375" y="3034903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Diferenciación entre clientes, gerentes y administradores.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09625" y="4800600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Gestión de Productos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809625" y="5153025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Administración de productos, categorías y alérgenos.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4572000" y="4800600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Gestión de Locales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4572000" y="5153025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Configuración y administración de múltiples sedes.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334375" y="4800600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Seguridad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334375" y="5153025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Protección de datos y control de acceso mediante autenticación.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22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7491" y="227423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3387066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7491" y="42674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0" y="233241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0" y="339287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0" y="4412674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ANÁLISIS DE REQUISITOS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1619250" y="2268414"/>
            <a:ext cx="4191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Usuarios y Roles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Autenticación segura y autorización basada en roles.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619250" y="3381150"/>
            <a:ext cx="4191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Catálogo Digital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Gestión de productos, categorías y alérgenos.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619250" y="4249935"/>
            <a:ext cx="4191000" cy="961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Pedidos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Procesamiento y seguimiento de pedidos en tiempo real.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905625" y="2303264"/>
            <a:ext cx="4191000" cy="687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Reservas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Control de disponibilidad y agenda de mesas.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905625" y="3381150"/>
            <a:ext cx="4512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Locales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Configuración y administración multiestablecimiento.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905625" y="4387073"/>
            <a:ext cx="4191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Administración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Panel de control para la gestión global del negocio.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 title="1.png"/>
          <p:cNvPicPr preferRelativeResize="0"/>
          <p:nvPr/>
        </p:nvPicPr>
        <p:blipFill rotWithShape="1">
          <a:blip r:embed="rId3">
            <a:alphaModFix/>
          </a:blip>
          <a:srcRect b="7813" l="0" r="0" t="7813"/>
          <a:stretch/>
        </p:blipFill>
        <p:spPr>
          <a:xfrm>
            <a:off x="6601925" y="2316425"/>
            <a:ext cx="5124177" cy="288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908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337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767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1963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ARQUITECTURA DEL SISTEMA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571500" y="2281237"/>
            <a:ext cx="32604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Modelo de Tres Capas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571500" y="2738437"/>
            <a:ext cx="310515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904875" y="30432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Frontend: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Angular 20 con SSR y Signals.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904875" y="35861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Backend: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API REST desarrollada con Symfony 7.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904875" y="41290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Base de Datos: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PostgreSQL gestionada en Supabase.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904875" y="46720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Comunicación: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Intercambio de datos mediante JSON sobre HTTPS.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46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11038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4153" y="309325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0331" y="36037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34150" y="4147775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68" y="456897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4613" y="4990163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DISEÑO DE LA BASE DE DATOS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6381750" y="1938337"/>
            <a:ext cx="55006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Características del Modelo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715125" y="25860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Users: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Clientes, gerentes y administradores.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715125" y="3081325"/>
            <a:ext cx="52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Products &amp; Categories: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Estructura del catálogo gastronómico.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715125" y="361142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Allergens: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Control de información alimentaria.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715125" y="4141537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Locals: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Gestión multiestablecimiento.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715125" y="4563037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Orders &amp; OrderLines: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Procesamiento de pedidos.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6715163" y="498452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Reservations: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Sistema de reservas online.</a:t>
            </a:r>
            <a:endParaRPr/>
          </a:p>
        </p:txBody>
      </p:sp>
      <p:pic>
        <p:nvPicPr>
          <p:cNvPr id="224" name="Google Shape;224;p19" title="2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9125" y="1938327"/>
            <a:ext cx="5200499" cy="3469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621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383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0194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8004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58152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5362575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DESARROLLO FRONTEND</a:t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440531" y="4689425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Angular 21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715125" y="17097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Signals: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Gestión reactiva del estado con alto rendimiento.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6715125" y="21859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SSR: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Renderizado en servidor para mejorar SEO y velocidad de carga.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6715125" y="29670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Standalone Components: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Arquitectura modular y reutilizable sin NgModules.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6715125" y="37480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Internacionalización: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Soporte multiidioma para mejorar la accesibilidad de la aplicación.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715125" y="45291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Leaflet: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Integración de mapas interactivos para reservas y localización.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715125" y="53101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Diseño Responsive: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Adaptación completa a móviles, tablets y ordenadores.</a:t>
            </a:r>
            <a:endParaRPr/>
          </a:p>
        </p:txBody>
      </p:sp>
      <p:pic>
        <p:nvPicPr>
          <p:cNvPr id="245" name="Google Shape;245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00188" y="3238500"/>
            <a:ext cx="3505623" cy="109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97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9077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718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528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3392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514975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DESARROLLO BACKEND</a:t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167956" y="4316700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Symfony 7 &amp; PHP 8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904875" y="15573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Symfony 7: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Framework PHP utilizado para la lógica de negocio y la API.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904875" y="23383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API REST: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Comunicación entre frontend y backend mediante JSON sobre HTTPS.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904875" y="31194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Doctrine ORM: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Gestión de entidades, relaciones y persistencia de datos.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904875" y="39004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Autenticación JWT: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Acceso seguro mediante tokens y sesiones autenticadas.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904875" y="46815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Control de Roles: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Permisos diferenciados para clientes, gerentes y administradores.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904875" y="54625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Validación de Datos: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Validación y saneamiento de peticiones para garantizar integridad.</a:t>
            </a:r>
            <a:endParaRPr/>
          </a:p>
        </p:txBody>
      </p:sp>
      <p:pic>
        <p:nvPicPr>
          <p:cNvPr id="266" name="Google Shape;266;p21" title="4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01448" y="3054435"/>
            <a:ext cx="2999351" cy="74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097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907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17182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9528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7339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5514975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EXPERIENCIA DEL CLIENTE</a:t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6715125" y="15573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Carta Digital: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Consulta rápida de productos organizados por categorías.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6715125" y="23383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Información de Alérgenos: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Visualización clara de ingredientes y restricciones alimentarias.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6715125" y="31194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Pedidos Online: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Proceso de compra sencillo mediante carrito integrado.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6715125" y="39004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Reservas Online: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Solicitud de reservas con validación de disponibilidad.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6715125" y="46815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Multiidioma: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Acceso a la plataforma en diferentes idiomas.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6715125" y="54625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Diseño Responsive: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Experiencia optimizada para móviles, tablets y ordenadores.</a:t>
            </a:r>
            <a:endParaRPr/>
          </a:p>
        </p:txBody>
      </p:sp>
      <p:pic>
        <p:nvPicPr>
          <p:cNvPr id="286" name="Google Shape;286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1512" y="1436404"/>
            <a:ext cx="2064914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40325" y="1436400"/>
            <a:ext cx="2064925" cy="468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678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9925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51734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104209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85668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609159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762000" y="571500"/>
            <a:ext cx="520065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PANEL ADMINISTRATIVO</a:t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571500" y="571500"/>
            <a:ext cx="47625" cy="11239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571500" y="1885950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Control integral del restaurante desde una plataforma centralizada.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904875" y="2794396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Gestión de Pedidos: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Seguimiento y control de pedidos realizados por los clientes.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904875" y="3546871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Gestión de Productos: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Administración de productos, categorías y alérgenos.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904875" y="4299346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Gestión de Locales: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Configuración y administración de múltiples establecimientos.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904875" y="5051821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Gestión de Usuarios: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Control de clientes, gerentes y administradores.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904875" y="5804296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Gestión de Reservas: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Supervisión y administración de reservas online.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904875" y="6556771"/>
            <a:ext cx="4810125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Control de Acceso: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Permisos diferenciados según el rol del usuario.</a:t>
            </a:r>
            <a:endParaRPr/>
          </a:p>
        </p:txBody>
      </p:sp>
      <p:pic>
        <p:nvPicPr>
          <p:cNvPr id="308" name="Google Shape;308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94383" y="2201472"/>
            <a:ext cx="5500668" cy="330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9850"/>
            <a:ext cx="349240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609850"/>
            <a:ext cx="3492549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609850"/>
            <a:ext cx="349240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9241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400" y="29241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700" y="29241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SEGURIDAD Y PROTECCIÓN</a:t>
            </a: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 txBox="1"/>
          <p:nvPr/>
        </p:nvSpPr>
        <p:spPr>
          <a:xfrm>
            <a:off x="857250" y="3543300"/>
            <a:ext cx="306694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JWT Auth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857250" y="3962400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Tokens cifrados para comunicación segura entre capas.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4635400" y="3543300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RBAC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4635400" y="3962400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Control de acceso basado en roles (Admin, Manager, User).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8413700" y="3543300"/>
            <a:ext cx="306694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Validación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8413700" y="3962400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Saneamiento de datos en frontend y backend para prevenir ataques SQLi/XSS.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5962"/>
            <a:ext cx="2000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2888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766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22433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507206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ENTORNO DE DESPLIEGUE</a:t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 txBox="1"/>
          <p:nvPr/>
        </p:nvSpPr>
        <p:spPr>
          <a:xfrm>
            <a:off x="6715125" y="19335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GitHub: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Control de versiones y gestión del código fuente.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6715125" y="24765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Vercel: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Despliegue automático y alojamiento del frontend Angular.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6715125" y="33242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Railway: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Alojamiento y ejecución del backend desarrollado en Symfony.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6715125" y="41719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Supabase: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Base de datos PostgreSQL gestionada en la nube.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6715125" y="50196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CI/CD: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Actualización automática de la aplicación mediante integración con GitHub.</a:t>
            </a:r>
            <a:endParaRPr/>
          </a:p>
        </p:txBody>
      </p:sp>
      <p:pic>
        <p:nvPicPr>
          <p:cNvPr id="345" name="Google Shape;345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1999" y="2471539"/>
            <a:ext cx="4912602" cy="191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0" name="Google Shape;3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9812"/>
            <a:ext cx="342900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309812"/>
            <a:ext cx="342900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309812"/>
            <a:ext cx="342900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85962" y="268128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6450" y="2681287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05962" y="268128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6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RESULTADOS</a:t>
            </a:r>
            <a:endParaRPr/>
          </a:p>
        </p:txBody>
      </p:sp>
      <p:sp>
        <p:nvSpPr>
          <p:cNvPr id="358" name="Google Shape;358;p26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 txBox="1"/>
          <p:nvPr/>
        </p:nvSpPr>
        <p:spPr>
          <a:xfrm>
            <a:off x="835818" y="3414712"/>
            <a:ext cx="29003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Usuarios y Roles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904875" y="3910012"/>
            <a:ext cx="2762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Sistema completo de autenticación y control de acceso.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4645818" y="3414712"/>
            <a:ext cx="29003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Pedidos y Reservas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4714875" y="3910012"/>
            <a:ext cx="2762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Gestión digital de pedidos y reservas operativa.</a:t>
            </a:r>
            <a:endParaRPr/>
          </a:p>
        </p:txBody>
      </p:sp>
      <p:sp>
        <p:nvSpPr>
          <p:cNvPr id="363" name="Google Shape;363;p26"/>
          <p:cNvSpPr txBox="1"/>
          <p:nvPr/>
        </p:nvSpPr>
        <p:spPr>
          <a:xfrm>
            <a:off x="8455818" y="3414712"/>
            <a:ext cx="29003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4AF3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Despliegue en Producción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8524875" y="4214812"/>
            <a:ext cx="2762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Aplicación desplegada y accesible mediante infraestructura cloud.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9" name="Google Shape;3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8862"/>
            <a:ext cx="523875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28862"/>
            <a:ext cx="52387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7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DIFICULTADES</a:t>
            </a:r>
            <a:endParaRPr/>
          </a:p>
        </p:txBody>
      </p:sp>
      <p:sp>
        <p:nvSpPr>
          <p:cNvPr id="373" name="Google Shape;373;p27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7"/>
          <p:cNvSpPr txBox="1"/>
          <p:nvPr/>
        </p:nvSpPr>
        <p:spPr>
          <a:xfrm>
            <a:off x="962025" y="2719387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Renderizado SSR</a:t>
            </a:r>
            <a:endParaRPr/>
          </a:p>
        </p:txBody>
      </p:sp>
      <p:sp>
        <p:nvSpPr>
          <p:cNvPr id="375" name="Google Shape;375;p27"/>
          <p:cNvSpPr/>
          <p:nvPr/>
        </p:nvSpPr>
        <p:spPr>
          <a:xfrm>
            <a:off x="962025" y="3167062"/>
            <a:ext cx="4457700" cy="95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7"/>
          <p:cNvSpPr txBox="1"/>
          <p:nvPr/>
        </p:nvSpPr>
        <p:spPr>
          <a:xfrm>
            <a:off x="962025" y="3414712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Problema: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Compatibilizar Angular SSR con librerías que dependen del navegador, como Leaflet.</a:t>
            </a:r>
            <a:endParaRPr/>
          </a:p>
        </p:txBody>
      </p:sp>
      <p:sp>
        <p:nvSpPr>
          <p:cNvPr id="377" name="Google Shape;377;p27"/>
          <p:cNvSpPr txBox="1"/>
          <p:nvPr/>
        </p:nvSpPr>
        <p:spPr>
          <a:xfrm>
            <a:off x="962025" y="416718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Solución: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Implementación de carga condicional y ejecución exclusiva en cliente mediante detección de plataforma.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6772275" y="2719387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Gestión de Roles y Seguridad</a:t>
            </a:r>
            <a:endParaRPr/>
          </a:p>
        </p:txBody>
      </p:sp>
      <p:sp>
        <p:nvSpPr>
          <p:cNvPr id="379" name="Google Shape;379;p27"/>
          <p:cNvSpPr/>
          <p:nvPr/>
        </p:nvSpPr>
        <p:spPr>
          <a:xfrm>
            <a:off x="6772275" y="3167062"/>
            <a:ext cx="4457700" cy="95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7"/>
          <p:cNvSpPr txBox="1"/>
          <p:nvPr/>
        </p:nvSpPr>
        <p:spPr>
          <a:xfrm>
            <a:off x="6772275" y="3414712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Problema: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Controlar el acceso a funcionalidades diferentes para clientes, gerentes y administradores.</a:t>
            </a:r>
            <a:endParaRPr/>
          </a:p>
        </p:txBody>
      </p:sp>
      <p:sp>
        <p:nvSpPr>
          <p:cNvPr id="381" name="Google Shape;381;p27"/>
          <p:cNvSpPr txBox="1"/>
          <p:nvPr/>
        </p:nvSpPr>
        <p:spPr>
          <a:xfrm>
            <a:off x="6772275" y="416718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Solución: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Implementación de autenticación JWT y autorización basada en roles tanto en frontend como en backend.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6" name="Google Shape;38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527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4528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2529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5053012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8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CONCLUSIONES Y MEJORAS FUTURAS</a:t>
            </a:r>
            <a:endParaRPr/>
          </a:p>
        </p:txBody>
      </p:sp>
      <p:sp>
        <p:nvSpPr>
          <p:cNvPr id="392" name="Google Shape;392;p28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 txBox="1"/>
          <p:nvPr/>
        </p:nvSpPr>
        <p:spPr>
          <a:xfrm>
            <a:off x="571500" y="2451199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Conclusiones</a:t>
            </a:r>
            <a:endParaRPr/>
          </a:p>
        </p:txBody>
      </p:sp>
      <p:sp>
        <p:nvSpPr>
          <p:cNvPr id="394" name="Google Shape;394;p28"/>
          <p:cNvSpPr txBox="1"/>
          <p:nvPr/>
        </p:nvSpPr>
        <p:spPr>
          <a:xfrm>
            <a:off x="571500" y="3003649"/>
            <a:ext cx="5238750" cy="2346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El proyecto ha permitido desarrollar una plataforma web funcional capaz de digitalizar la gestión de pedidos, reservas y administración de restaurantes. La solución centraliza los procesos del negocio, mejora la experiencia del cliente y facilita la gestión de múltiples establecimientos mediante una arquitectura moderna y escalable.</a:t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6381750" y="2000250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Mejoras Futuras</a:t>
            </a:r>
            <a:endParaRPr/>
          </a:p>
        </p:txBody>
      </p:sp>
      <p:sp>
        <p:nvSpPr>
          <p:cNvPr id="396" name="Google Shape;396;p28"/>
          <p:cNvSpPr txBox="1"/>
          <p:nvPr/>
        </p:nvSpPr>
        <p:spPr>
          <a:xfrm>
            <a:off x="6715125" y="26003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Pasarela de pagos: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Integración de pagos online mediante Stripe.</a:t>
            </a:r>
            <a:endParaRPr/>
          </a:p>
        </p:txBody>
      </p:sp>
      <p:sp>
        <p:nvSpPr>
          <p:cNvPr id="397" name="Google Shape;397;p28"/>
          <p:cNvSpPr txBox="1"/>
          <p:nvPr/>
        </p:nvSpPr>
        <p:spPr>
          <a:xfrm>
            <a:off x="6715125" y="34004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Notificaciones en tiempo real: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Avisos de pedidos, reservas y eventos importantes.</a:t>
            </a:r>
            <a:endParaRPr/>
          </a:p>
        </p:txBody>
      </p:sp>
      <p:sp>
        <p:nvSpPr>
          <p:cNvPr id="398" name="Google Shape;398;p28"/>
          <p:cNvSpPr txBox="1"/>
          <p:nvPr/>
        </p:nvSpPr>
        <p:spPr>
          <a:xfrm>
            <a:off x="6715125" y="42005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Analítica y estadísticas: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Generación de informes y métricas para la toma de decisiones.</a:t>
            </a:r>
            <a:endParaRPr/>
          </a:p>
        </p:txBody>
      </p:sp>
      <p:sp>
        <p:nvSpPr>
          <p:cNvPr id="399" name="Google Shape;399;p28"/>
          <p:cNvSpPr txBox="1"/>
          <p:nvPr/>
        </p:nvSpPr>
        <p:spPr>
          <a:xfrm>
            <a:off x="6715125" y="50006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Predicción de demanda: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Análisis de ventas para optimizar recursos y stock.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5487"/>
            <a:ext cx="2547937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1995487"/>
            <a:ext cx="2547937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995487"/>
            <a:ext cx="2547937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1995487"/>
            <a:ext cx="2547937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2090737"/>
            <a:ext cx="235743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00437" y="2090737"/>
            <a:ext cx="235743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090737"/>
            <a:ext cx="235743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67812" y="2090737"/>
            <a:ext cx="235743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45443" y="32908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21981" y="32908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12818" y="32908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17931" y="32908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9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DEMOSTRACIÓN VISUAL</a:t>
            </a:r>
            <a:endParaRPr/>
          </a:p>
        </p:txBody>
      </p:sp>
      <p:sp>
        <p:nvSpPr>
          <p:cNvPr id="418" name="Google Shape;418;p29"/>
          <p:cNvSpPr/>
          <p:nvPr/>
        </p:nvSpPr>
        <p:spPr>
          <a:xfrm>
            <a:off x="571500" y="571500"/>
            <a:ext cx="47625" cy="5619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9"/>
          <p:cNvSpPr txBox="1"/>
          <p:nvPr/>
        </p:nvSpPr>
        <p:spPr>
          <a:xfrm>
            <a:off x="666750" y="5043487"/>
            <a:ext cx="23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cap="none" strike="noStrike">
                <a:solidFill>
                  <a:srgbClr val="D4AF37"/>
                </a:solidFill>
                <a:uFill>
                  <a:noFill/>
                </a:uFill>
                <a:latin typeface="Urbanist"/>
                <a:ea typeface="Urbanist"/>
                <a:cs typeface="Urbanist"/>
                <a:sym typeface="Urbanist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Carta Digital</a:t>
            </a:r>
            <a:endParaRPr>
              <a:solidFill>
                <a:srgbClr val="D4AF37"/>
              </a:solidFill>
            </a:endParaRPr>
          </a:p>
        </p:txBody>
      </p:sp>
      <p:sp>
        <p:nvSpPr>
          <p:cNvPr id="420" name="Google Shape;420;p29"/>
          <p:cNvSpPr txBox="1"/>
          <p:nvPr/>
        </p:nvSpPr>
        <p:spPr>
          <a:xfrm>
            <a:off x="3500437" y="5043487"/>
            <a:ext cx="235743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Sistema de Pedidos</a:t>
            </a:r>
            <a:endParaRPr/>
          </a:p>
        </p:txBody>
      </p:sp>
      <p:sp>
        <p:nvSpPr>
          <p:cNvPr id="421" name="Google Shape;421;p29"/>
          <p:cNvSpPr txBox="1"/>
          <p:nvPr/>
        </p:nvSpPr>
        <p:spPr>
          <a:xfrm>
            <a:off x="6334125" y="5043487"/>
            <a:ext cx="235743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Reservas Online</a:t>
            </a:r>
            <a:endParaRPr/>
          </a:p>
        </p:txBody>
      </p:sp>
      <p:sp>
        <p:nvSpPr>
          <p:cNvPr id="422" name="Google Shape;422;p29"/>
          <p:cNvSpPr txBox="1"/>
          <p:nvPr/>
        </p:nvSpPr>
        <p:spPr>
          <a:xfrm>
            <a:off x="9167812" y="5043487"/>
            <a:ext cx="235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cap="none" strike="noStrike">
                <a:solidFill>
                  <a:srgbClr val="D4AF37"/>
                </a:solidFill>
                <a:uFill>
                  <a:noFill/>
                </a:uFill>
                <a:latin typeface="Urbanist"/>
                <a:ea typeface="Urbanist"/>
                <a:cs typeface="Urbanist"/>
                <a:sym typeface="Urbanist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Panel Admin</a:t>
            </a:r>
            <a:endParaRPr>
              <a:solidFill>
                <a:srgbClr val="D4AF3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7" name="Google Shape;42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3560"/>
            <a:ext cx="11049000" cy="84385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0"/>
          <p:cNvSpPr txBox="1"/>
          <p:nvPr/>
        </p:nvSpPr>
        <p:spPr>
          <a:xfrm>
            <a:off x="295275" y="571500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¿Preguntas?</a:t>
            </a:r>
            <a:endParaRPr/>
          </a:p>
        </p:txBody>
      </p:sp>
      <p:sp>
        <p:nvSpPr>
          <p:cNvPr id="430" name="Google Shape;430;p30"/>
          <p:cNvSpPr txBox="1"/>
          <p:nvPr/>
        </p:nvSpPr>
        <p:spPr>
          <a:xfrm>
            <a:off x="571500" y="1809750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Muchas gracias por su atención</a:t>
            </a:r>
            <a:endParaRPr/>
          </a:p>
        </p:txBody>
      </p:sp>
      <p:sp>
        <p:nvSpPr>
          <p:cNvPr id="431" name="Google Shape;431;p30"/>
          <p:cNvSpPr txBox="1"/>
          <p:nvPr/>
        </p:nvSpPr>
        <p:spPr>
          <a:xfrm>
            <a:off x="571500" y="297358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BAME - Plataforma Digital para Restaurantes</a:t>
            </a:r>
            <a:endParaRPr/>
          </a:p>
        </p:txBody>
      </p:sp>
      <p:sp>
        <p:nvSpPr>
          <p:cNvPr id="432" name="Google Shape;432;p30"/>
          <p:cNvSpPr txBox="1"/>
          <p:nvPr/>
        </p:nvSpPr>
        <p:spPr>
          <a:xfrm>
            <a:off x="571500" y="3373635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Defensa de TFG | 2025-2026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